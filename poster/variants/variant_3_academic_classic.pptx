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0" cy="32918400"/>
          </a:xfrm>
          <a:prstGeom prst="rect">
            <a:avLst/>
          </a:prstGeom>
          <a:solidFill>
            <a:srgbClr val="F6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0" y="777240"/>
            <a:ext cx="41330880" cy="36576"/>
          </a:xfrm>
          <a:prstGeom prst="rect">
            <a:avLst/>
          </a:prstGeom>
          <a:solidFill>
            <a:srgbClr val="B58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960120"/>
            <a:ext cx="4133088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0" b="1" i="0">
                <a:solidFill>
                  <a:srgbClr val="202020"/>
                </a:solidFill>
                <a:latin typeface="Georgia"/>
              </a:rPr>
              <a:t>Classification of EEG Eye-State via KNN: A Cross-Validation Honesty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017520"/>
            <a:ext cx="41330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0" i="1">
                <a:solidFill>
                  <a:srgbClr val="584F3A"/>
                </a:solidFill>
                <a:latin typeface="Georgia"/>
              </a:rPr>
              <a:t>Ivan Del Rio · Anish Kondamadugula  |  COGS 109 (Mukamel) · Spring 2026  |  UC San Diego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3703320"/>
            <a:ext cx="41330880" cy="36576"/>
          </a:xfrm>
          <a:prstGeom prst="rect">
            <a:avLst/>
          </a:prstGeom>
          <a:solidFill>
            <a:srgbClr val="B58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114800"/>
            <a:ext cx="13350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B5832A"/>
                </a:solidFill>
                <a:latin typeface="Georgia"/>
              </a:rPr>
              <a:t>§  </a:t>
            </a:r>
            <a:r>
              <a:rPr sz="2400" b="1">
                <a:solidFill>
                  <a:srgbClr val="202020"/>
                </a:solidFill>
                <a:latin typeface="Georgia"/>
              </a:rPr>
              <a:t>A  B  S  T  R  A  C  T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4754880"/>
            <a:ext cx="13350240" cy="27432"/>
          </a:xfrm>
          <a:prstGeom prst="rect">
            <a:avLst/>
          </a:prstGeom>
          <a:solidFill>
            <a:srgbClr val="B58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80160" y="4983480"/>
            <a:ext cx="13350240" cy="6583680"/>
          </a:xfrm>
          <a:prstGeom prst="rect">
            <a:avLst/>
          </a:prstGeom>
          <a:solidFill>
            <a:srgbClr val="EDE5D0"/>
          </a:solidFill>
          <a:ln w="7620">
            <a:solidFill>
              <a:srgbClr val="B58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4983480"/>
            <a:ext cx="13350240" cy="6583680"/>
          </a:xfrm>
          <a:prstGeom prst="rect">
            <a:avLst/>
          </a:prstGeom>
          <a:noFill/>
        </p:spPr>
        <p:txBody>
          <a:bodyPr wrap="square" anchor="t" lIns="182880" rIns="182880" tIns="91440" bIns="91440">
            <a:spAutoFit/>
          </a:bodyPr>
          <a:lstStyle/>
          <a:p>
            <a:pPr algn="just"/>
            <a:r>
              <a:rPr sz="2000" i="0">
                <a:solidFill>
                  <a:srgbClr val="202020"/>
                </a:solidFill>
                <a:latin typeface="Georgia"/>
              </a:rPr>
              <a:t>We pick classification as our data-analysis approach, K-nearest neighbours (KNN) as our model, and a k-sweep minimising 5-fold CV error as our model-selection procedure. We then run that same procedure under three different CV schemes — shuffled, naive blocked, and stratified blocked — on the UCI #264 EEG Eye State recording. All three schemes pick k = 1, but the picked accuracies span 47 percentage points: 97.3% ± 0.4% (shuffled, leaky), 50.0% ± 10.7% (naive blocked), and 77.8% ± 2.7% (stratified blocked, honest). The 19.5 pp gap between the leaky and honest estimates is leakage attributable to scheme choice on this autocorrelated single-subject recording, not to model quality.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1978640"/>
            <a:ext cx="13350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B5832A"/>
                </a:solidFill>
                <a:latin typeface="Georgia"/>
              </a:rPr>
              <a:t>§  </a:t>
            </a:r>
            <a:r>
              <a:rPr sz="2400" b="1">
                <a:solidFill>
                  <a:srgbClr val="202020"/>
                </a:solidFill>
                <a:latin typeface="Georgia"/>
              </a:rPr>
              <a:t>R  E  S  E  A  R  C  H     Q  U  E  S  T  I  O  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12618720"/>
            <a:ext cx="13350240" cy="27432"/>
          </a:xfrm>
          <a:prstGeom prst="rect">
            <a:avLst/>
          </a:prstGeom>
          <a:solidFill>
            <a:srgbClr val="B58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80160" y="12847320"/>
            <a:ext cx="13350240" cy="2743200"/>
          </a:xfrm>
          <a:prstGeom prst="rect">
            <a:avLst/>
          </a:prstGeom>
          <a:solidFill>
            <a:srgbClr val="EDE5D0"/>
          </a:solidFill>
          <a:ln w="7620">
            <a:solidFill>
              <a:srgbClr val="B58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12847320"/>
            <a:ext cx="13350240" cy="2743200"/>
          </a:xfrm>
          <a:prstGeom prst="rect">
            <a:avLst/>
          </a:prstGeom>
          <a:noFill/>
        </p:spPr>
        <p:txBody>
          <a:bodyPr wrap="square" anchor="t" lIns="182880" rIns="182880" tIns="91440" bIns="91440">
            <a:spAutoFit/>
          </a:bodyPr>
          <a:lstStyle/>
          <a:p>
            <a:pPr algn="l"/>
            <a:r>
              <a:rPr sz="2000" i="1">
                <a:solidFill>
                  <a:srgbClr val="202020"/>
                </a:solidFill>
                <a:latin typeface="Georgia"/>
              </a:rPr>
              <a:t>Given an autocorrelated single-subject EEG recording and a KNN classifier, how does the choice of cross-validation scheme change the result of an otherwise-identical model-selection procedure?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16002000"/>
            <a:ext cx="13350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B5832A"/>
                </a:solidFill>
                <a:latin typeface="Georgia"/>
              </a:rPr>
              <a:t>§  </a:t>
            </a:r>
            <a:r>
              <a:rPr sz="2400" b="1">
                <a:solidFill>
                  <a:srgbClr val="202020"/>
                </a:solidFill>
                <a:latin typeface="Georgia"/>
              </a:rPr>
              <a:t>B  A  C  K  G  R  O  U  N  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16642080"/>
            <a:ext cx="13350240" cy="27432"/>
          </a:xfrm>
          <a:prstGeom prst="rect">
            <a:avLst/>
          </a:prstGeom>
          <a:solidFill>
            <a:srgbClr val="B58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80160" y="16870680"/>
            <a:ext cx="13350240" cy="11475720"/>
          </a:xfrm>
          <a:prstGeom prst="rect">
            <a:avLst/>
          </a:prstGeom>
          <a:solidFill>
            <a:srgbClr val="EDE5D0"/>
          </a:solidFill>
          <a:ln w="7620">
            <a:solidFill>
              <a:srgbClr val="B58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16870680"/>
            <a:ext cx="13350240" cy="7726681"/>
          </a:xfrm>
          <a:prstGeom prst="rect">
            <a:avLst/>
          </a:prstGeom>
          <a:noFill/>
        </p:spPr>
        <p:txBody>
          <a:bodyPr wrap="square" anchor="t" lIns="182880" rIns="182880" tIns="91440" bIns="9144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202020"/>
                </a:solidFill>
                <a:latin typeface="Georgia"/>
              </a:rPr>
              <a:t>◆  UCI EEG Eye State dataset (Roesler, 2013) — id #264.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202020"/>
                </a:solidFill>
                <a:latin typeface="Georgia"/>
              </a:rPr>
              <a:t>◆  14,980 samples × 14 Emotiv channels (AF3, F7, F3, FC5, T7, P7, O1, O2, P8, T8, FC6, F4, F8, AF4), sampled at ~128 Hz over ~117 s.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202020"/>
                </a:solidFill>
                <a:latin typeface="Georgia"/>
              </a:rPr>
              <a:t>◆  Single subject, binary eyeDetection label, 55.12% open / 44.88% closed.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202020"/>
                </a:solidFill>
                <a:latin typeface="Georgia"/>
              </a:rPr>
              <a:t>◆  Only 24 contiguous label runs in the whole recording.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202020"/>
                </a:solidFill>
                <a:latin typeface="Georgia"/>
              </a:rPr>
              <a:t>◆  Channel autocorrelation at lag 1 ≈ 0.997 — adjacent samples are nearly identical, so any uniformly-random CV split puts near-duplicates into both train and test.</a:t>
            </a:r>
          </a:p>
        </p:txBody>
      </p:sp>
      <p:pic>
        <p:nvPicPr>
          <p:cNvPr id="19" name="Picture 18" descr="08_label_auto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9816" y="24688800"/>
            <a:ext cx="4650927" cy="2926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63040" y="27660600"/>
            <a:ext cx="12984480" cy="5029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300" b="0" i="1">
                <a:solidFill>
                  <a:srgbClr val="584F3A"/>
                </a:solidFill>
                <a:latin typeface="Georgia"/>
              </a:rPr>
              <a:t>Figure 1. Label autocorrelation across lags — motivates blocked CV.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0" y="4114800"/>
            <a:ext cx="13350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B5832A"/>
                </a:solidFill>
                <a:latin typeface="Georgia"/>
              </a:rPr>
              <a:t>§  </a:t>
            </a:r>
            <a:r>
              <a:rPr sz="2400" b="1">
                <a:solidFill>
                  <a:srgbClr val="202020"/>
                </a:solidFill>
                <a:latin typeface="Georgia"/>
              </a:rPr>
              <a:t>M  E  T  H  O  D  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270480" y="4754880"/>
            <a:ext cx="13350240" cy="27432"/>
          </a:xfrm>
          <a:prstGeom prst="rect">
            <a:avLst/>
          </a:prstGeom>
          <a:solidFill>
            <a:srgbClr val="B58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5270480" y="4983480"/>
            <a:ext cx="13350240" cy="7315200"/>
          </a:xfrm>
          <a:prstGeom prst="rect">
            <a:avLst/>
          </a:prstGeom>
          <a:solidFill>
            <a:srgbClr val="EDE5D0"/>
          </a:solidFill>
          <a:ln w="7620">
            <a:solidFill>
              <a:srgbClr val="B58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270480" y="4983480"/>
            <a:ext cx="13350240" cy="7315200"/>
          </a:xfrm>
          <a:prstGeom prst="rect">
            <a:avLst/>
          </a:prstGeom>
          <a:noFill/>
        </p:spPr>
        <p:txBody>
          <a:bodyPr wrap="square" anchor="t" lIns="182880" rIns="182880" tIns="91440" bIns="91440">
            <a:spAutoFit/>
          </a:bodyPr>
          <a:lstStyle/>
          <a:p>
            <a:pPr algn="just"/>
            <a:r>
              <a:rPr sz="1700" i="0">
                <a:solidFill>
                  <a:srgbClr val="202020"/>
                </a:solidFill>
                <a:latin typeface="Georgia"/>
              </a:rPr>
              <a:t>Approach: classification (binary eyeDetection target). Model: K-nearest neighbours with Euclidean distance in z-scored 14-D channel space. Chosen because KNN's per-sample similarity decision rule is the COGS 109-palette model most sensitive to lag-1 autocorrelation. Model selection: sweep k over {1, 3, 5, 7, 11, 15, 21, 31, 51, 75, 99, 151, 201} (log-spaced); pick the k maximising mean 5-fold CV accuracy. CV scheme A — shuffled 5-fold (leaky baseline). CV scheme B — naive blocked 5-fold (5 contiguous time chunks). CV scheme C — stratified blocked 5-fold (100 short contiguous segments redistributed across folds to balance class proportion; honest). Preprocessing: drop 4 voltage outliers (&gt;4 SD on any channel), chronological 80/20 split with a 64-sample seam gap, z-score on the training partition only.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70480" y="12710160"/>
            <a:ext cx="13350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B5832A"/>
                </a:solidFill>
                <a:latin typeface="Georgia"/>
              </a:rPr>
              <a:t>§  </a:t>
            </a:r>
            <a:r>
              <a:rPr sz="2400" b="1">
                <a:solidFill>
                  <a:srgbClr val="202020"/>
                </a:solidFill>
                <a:latin typeface="Georgia"/>
              </a:rPr>
              <a:t>H  E  A  D  L  I  N  E     F  I  G  U  R  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270480" y="13350240"/>
            <a:ext cx="13350240" cy="27432"/>
          </a:xfrm>
          <a:prstGeom prst="rect">
            <a:avLst/>
          </a:prstGeom>
          <a:solidFill>
            <a:srgbClr val="B58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270480" y="13578840"/>
            <a:ext cx="13350240" cy="10058400"/>
          </a:xfrm>
          <a:prstGeom prst="rect">
            <a:avLst/>
          </a:prstGeom>
          <a:solidFill>
            <a:srgbClr val="EDE5D0"/>
          </a:solidFill>
          <a:ln w="7620">
            <a:solidFill>
              <a:srgbClr val="B58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11_knn_k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3360" y="14136342"/>
            <a:ext cx="12984480" cy="839475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5453360" y="22576817"/>
            <a:ext cx="12984480" cy="5029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500" b="0" i="1">
                <a:solidFill>
                  <a:srgbClr val="584F3A"/>
                </a:solidFill>
                <a:latin typeface="Georgia"/>
              </a:rPr>
              <a:t>Figure 2. KNN model selection under three CV schemes.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70480" y="24048720"/>
            <a:ext cx="13350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B5832A"/>
                </a:solidFill>
                <a:latin typeface="Georgia"/>
              </a:rPr>
              <a:t>§  </a:t>
            </a:r>
            <a:r>
              <a:rPr sz="2400" b="1">
                <a:solidFill>
                  <a:srgbClr val="202020"/>
                </a:solidFill>
                <a:latin typeface="Georgia"/>
              </a:rPr>
              <a:t>T  A  K  E  -  H  O  M  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270480" y="24688800"/>
            <a:ext cx="13350240" cy="27432"/>
          </a:xfrm>
          <a:prstGeom prst="rect">
            <a:avLst/>
          </a:prstGeom>
          <a:solidFill>
            <a:srgbClr val="B58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5270480" y="24917400"/>
            <a:ext cx="13350240" cy="3429000"/>
          </a:xfrm>
          <a:prstGeom prst="rect">
            <a:avLst/>
          </a:prstGeom>
          <a:solidFill>
            <a:srgbClr val="E9D8A8"/>
          </a:solidFill>
          <a:ln w="7620">
            <a:solidFill>
              <a:srgbClr val="B58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270480" y="24917400"/>
            <a:ext cx="13350240" cy="3429000"/>
          </a:xfrm>
          <a:prstGeom prst="rect">
            <a:avLst/>
          </a:prstGeom>
          <a:noFill/>
        </p:spPr>
        <p:txBody>
          <a:bodyPr wrap="square" anchor="ctr" lIns="274320" rIns="274320" tIns="137160" bIns="137160">
            <a:spAutoFit/>
          </a:bodyPr>
          <a:lstStyle/>
          <a:p>
            <a:pPr algn="ctr"/>
            <a:r>
              <a:rPr sz="2400" b="0" i="1">
                <a:solidFill>
                  <a:srgbClr val="584F3A"/>
                </a:solidFill>
                <a:latin typeface="Georgia"/>
              </a:rPr>
              <a:t>“Shuffled CV says we have a 97% classifier.</a:t>
            </a:r>
          </a:p>
          <a:p>
            <a:pPr algn="ctr">
              <a:spcBef>
                <a:spcPts val="800"/>
              </a:spcBef>
            </a:pPr>
            <a:r>
              <a:rPr sz="2800" b="1" i="1">
                <a:solidFill>
                  <a:srgbClr val="202020"/>
                </a:solidFill>
                <a:latin typeface="Georgia"/>
              </a:rPr>
              <a:t>Honest stratified blocked CV says we have a 78% classifier.</a:t>
            </a:r>
          </a:p>
          <a:p>
            <a:pPr algn="ctr">
              <a:spcBef>
                <a:spcPts val="800"/>
              </a:spcBef>
            </a:pPr>
            <a:r>
              <a:rPr sz="2200" b="0" i="1">
                <a:solidFill>
                  <a:srgbClr val="B5832A"/>
                </a:solidFill>
                <a:latin typeface="Georgia"/>
              </a:rPr>
              <a:t>The difference is leakage, not signal.”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0" y="4114800"/>
            <a:ext cx="13350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B5832A"/>
                </a:solidFill>
                <a:latin typeface="Georgia"/>
              </a:rPr>
              <a:t>§  </a:t>
            </a:r>
            <a:r>
              <a:rPr sz="2400" b="1">
                <a:solidFill>
                  <a:srgbClr val="202020"/>
                </a:solidFill>
                <a:latin typeface="Georgia"/>
              </a:rPr>
              <a:t>R  E  S  U  L  T  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260800" y="4754880"/>
            <a:ext cx="13350240" cy="27432"/>
          </a:xfrm>
          <a:prstGeom prst="rect">
            <a:avLst/>
          </a:prstGeom>
          <a:solidFill>
            <a:srgbClr val="B58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29260800" y="4983480"/>
          <a:ext cx="1335023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41110"/>
                <a:gridCol w="2403043"/>
                <a:gridCol w="4806086"/>
              </a:tblGrid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6EFE0"/>
                          </a:solidFill>
                          <a:latin typeface="Georgia"/>
                        </a:rPr>
                        <a:t>CV scheme</a:t>
                      </a:r>
                    </a:p>
                  </a:txBody>
                  <a:tcPr marL="73152" marR="73152" marT="45720" marB="45720">
                    <a:solidFill>
                      <a:srgbClr val="B583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6EFE0"/>
                          </a:solidFill>
                          <a:latin typeface="Georgia"/>
                        </a:rPr>
                        <a:t>Picked k</a:t>
                      </a:r>
                    </a:p>
                  </a:txBody>
                  <a:tcPr marL="73152" marR="73152" marT="45720" marB="45720">
                    <a:solidFill>
                      <a:srgbClr val="B583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6EFE0"/>
                          </a:solidFill>
                          <a:latin typeface="Georgia"/>
                        </a:rPr>
                        <a:t>Mean accuracy ± std</a:t>
                      </a:r>
                    </a:p>
                  </a:txBody>
                  <a:tcPr marL="73152" marR="73152" marT="45720" marB="45720">
                    <a:solidFill>
                      <a:srgbClr val="B5832A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02020"/>
                          </a:solidFill>
                          <a:latin typeface="Georgia"/>
                        </a:rPr>
                        <a:t>Shuffled (leaky)</a:t>
                      </a:r>
                    </a:p>
                  </a:txBody>
                  <a:tcPr marL="73152" marR="73152" marT="45720" marB="45720">
                    <a:solidFill>
                      <a:srgbClr val="EDE5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Georgia"/>
                        </a:rPr>
                        <a:t>1</a:t>
                      </a:r>
                    </a:p>
                  </a:txBody>
                  <a:tcPr marL="73152" marR="73152" marT="45720" marB="45720">
                    <a:solidFill>
                      <a:srgbClr val="EDE5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Georgia"/>
                        </a:rPr>
                        <a:t>0.9728 ± 0.0037</a:t>
                      </a:r>
                    </a:p>
                  </a:txBody>
                  <a:tcPr marL="73152" marR="73152" marT="45720" marB="45720">
                    <a:solidFill>
                      <a:srgbClr val="EDE5D0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02020"/>
                          </a:solidFill>
                          <a:latin typeface="Georgia"/>
                        </a:rPr>
                        <a:t>Naive blocked</a:t>
                      </a:r>
                    </a:p>
                  </a:txBody>
                  <a:tcPr marL="73152" marR="73152" marT="45720" marB="45720">
                    <a:solidFill>
                      <a:srgbClr val="EDE5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Georgia"/>
                        </a:rPr>
                        <a:t>1</a:t>
                      </a:r>
                    </a:p>
                  </a:txBody>
                  <a:tcPr marL="73152" marR="73152" marT="45720" marB="45720">
                    <a:solidFill>
                      <a:srgbClr val="EDE5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Georgia"/>
                        </a:rPr>
                        <a:t>0.5004 ± 0.1068</a:t>
                      </a:r>
                    </a:p>
                  </a:txBody>
                  <a:tcPr marL="73152" marR="73152" marT="45720" marB="45720">
                    <a:solidFill>
                      <a:srgbClr val="EDE5D0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02020"/>
                          </a:solidFill>
                          <a:latin typeface="Georgia"/>
                        </a:rPr>
                        <a:t>Stratified blocked (honest)</a:t>
                      </a:r>
                    </a:p>
                  </a:txBody>
                  <a:tcPr marL="73152" marR="73152" marT="45720" marB="45720">
                    <a:solidFill>
                      <a:srgbClr val="E9D8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Georgia"/>
                        </a:rPr>
                        <a:t>1</a:t>
                      </a:r>
                    </a:p>
                  </a:txBody>
                  <a:tcPr marL="73152" marR="73152" marT="45720" marB="45720">
                    <a:solidFill>
                      <a:srgbClr val="E9D8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02020"/>
                          </a:solidFill>
                          <a:latin typeface="Georgia"/>
                        </a:rPr>
                        <a:t>0.7778 ± 0.0274</a:t>
                      </a:r>
                    </a:p>
                  </a:txBody>
                  <a:tcPr marL="73152" marR="73152" marT="45720" marB="45720">
                    <a:solidFill>
                      <a:srgbClr val="E9D8A8"/>
                    </a:solidFill>
                  </a:tcPr>
                </a:tc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29260800" y="8503920"/>
            <a:ext cx="13350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B5832A"/>
                </a:solidFill>
                <a:latin typeface="Georgia"/>
              </a:rPr>
              <a:t>§  </a:t>
            </a:r>
            <a:r>
              <a:rPr sz="2400" b="1">
                <a:solidFill>
                  <a:srgbClr val="202020"/>
                </a:solidFill>
                <a:latin typeface="Georgia"/>
              </a:rPr>
              <a:t>C  O  N  C  L  U  S  I  O  N  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00" y="9144000"/>
            <a:ext cx="13350240" cy="27432"/>
          </a:xfrm>
          <a:prstGeom prst="rect">
            <a:avLst/>
          </a:prstGeom>
          <a:solidFill>
            <a:srgbClr val="B58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9260800" y="9372600"/>
            <a:ext cx="13350240" cy="6949440"/>
          </a:xfrm>
          <a:prstGeom prst="rect">
            <a:avLst/>
          </a:prstGeom>
          <a:solidFill>
            <a:srgbClr val="EDE5D0"/>
          </a:solidFill>
          <a:ln w="7620">
            <a:solidFill>
              <a:srgbClr val="B58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260800" y="9372600"/>
            <a:ext cx="13350240" cy="6949440"/>
          </a:xfrm>
          <a:prstGeom prst="rect">
            <a:avLst/>
          </a:prstGeom>
          <a:noFill/>
        </p:spPr>
        <p:txBody>
          <a:bodyPr wrap="square" anchor="t" lIns="182880" rIns="182880" tIns="91440" bIns="9144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>
                <a:solidFill>
                  <a:srgbClr val="202020"/>
                </a:solidFill>
                <a:latin typeface="Georgia"/>
              </a:rPr>
              <a:t>◆  (1) The same KNN-k-sweep model-selection procedure picks k = 1 under all three CV schemes — but the accuracy at that k varies by 47 percentage points (50.0% naive blocked → 97.3% shuffled).</a:t>
            </a:r>
          </a:p>
          <a:p>
            <a:pPr algn="l">
              <a:spcAft>
                <a:spcPts val="500"/>
              </a:spcAft>
            </a:pPr>
            <a:r>
              <a:rPr sz="1500">
                <a:solidFill>
                  <a:srgbClr val="202020"/>
                </a:solidFill>
                <a:latin typeface="Georgia"/>
              </a:rPr>
              <a:t>◆  (2) The honest accuracy at k = 1 (stratified blocked CV) is 77.8% ± 2.7% — well above the 55.12% majority-class baseline.</a:t>
            </a:r>
          </a:p>
          <a:p>
            <a:pPr algn="l">
              <a:spcAft>
                <a:spcPts val="500"/>
              </a:spcAft>
            </a:pPr>
            <a:r>
              <a:rPr sz="1500">
                <a:solidFill>
                  <a:srgbClr val="202020"/>
                </a:solidFill>
                <a:latin typeface="Georgia"/>
              </a:rPr>
              <a:t>◆  (3) The 19.5 pp gap between the leaky and honest estimates is leakage attributable to scheme choice, not signal from a better model.</a:t>
            </a:r>
          </a:p>
          <a:p>
            <a:pPr algn="l">
              <a:spcAft>
                <a:spcPts val="500"/>
              </a:spcAft>
            </a:pPr>
            <a:r>
              <a:rPr sz="1500">
                <a:solidFill>
                  <a:srgbClr val="202020"/>
                </a:solidFill>
                <a:latin typeface="Georgia"/>
              </a:rPr>
              <a:t>◆  (4) Alternative classifiers (LDA / PCA→LDA / PCR) confirm KNN is uniquely vulnerable — their leakage gaps are only 2–6 pp, as theory predicts for classifiers that do not depend on per-sample similarity.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0" y="16733520"/>
            <a:ext cx="13350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B5832A"/>
                </a:solidFill>
                <a:latin typeface="Georgia"/>
              </a:rPr>
              <a:t>§  </a:t>
            </a:r>
            <a:r>
              <a:rPr sz="2400" b="1">
                <a:solidFill>
                  <a:srgbClr val="202020"/>
                </a:solidFill>
                <a:latin typeface="Georgia"/>
              </a:rPr>
              <a:t>S  U  P  P  O  R  T  I  N  G     E  V  I  D  E  N  C  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260800" y="17373600"/>
            <a:ext cx="13350240" cy="27432"/>
          </a:xfrm>
          <a:prstGeom prst="rect">
            <a:avLst/>
          </a:prstGeom>
          <a:solidFill>
            <a:srgbClr val="B58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9260800" y="17602200"/>
            <a:ext cx="13350240" cy="10744200"/>
          </a:xfrm>
          <a:prstGeom prst="rect">
            <a:avLst/>
          </a:prstGeom>
          <a:solidFill>
            <a:srgbClr val="EDE5D0"/>
          </a:solidFill>
          <a:ln w="7620">
            <a:solidFill>
              <a:srgbClr val="B58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260800" y="17602200"/>
            <a:ext cx="13350240" cy="6995161"/>
          </a:xfrm>
          <a:prstGeom prst="rect">
            <a:avLst/>
          </a:prstGeom>
          <a:noFill/>
        </p:spPr>
        <p:txBody>
          <a:bodyPr wrap="square" anchor="t" lIns="182880" rIns="182880" tIns="91440" bIns="9144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>
                <a:solidFill>
                  <a:srgbClr val="202020"/>
                </a:solidFill>
                <a:latin typeface="Georgia"/>
              </a:rPr>
              <a:t>◆  We also evaluated three alternative classifiers (LDA, PCA→LDA, PCR-as-classifier) as sanity checks, sweeping their hyperparameters under the same three CV schemes.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202020"/>
                </a:solidFill>
                <a:latin typeface="Georgia"/>
              </a:rPr>
              <a:t>◆  LDA leakage gap (shuffled minus stratified blocked): +5.6 pp.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202020"/>
                </a:solidFill>
                <a:latin typeface="Georgia"/>
              </a:rPr>
              <a:t>◆  PCA→LDA (n=3) leakage gap: +2.4 pp.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202020"/>
                </a:solidFill>
                <a:latin typeface="Georgia"/>
              </a:rPr>
              <a:t>◆  PCR-as-classifier (n=2) leakage gap: +2.8 pp.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202020"/>
                </a:solidFill>
                <a:latin typeface="Georgia"/>
              </a:rPr>
              <a:t>◆  KNN's +19.5 pp gap is the outlier — consistent with KNN exploiting per-sample similarity while LDA / PCA→LDA / PCR average over many samples before deciding. See figure 14 + tables/03 for full numbers.</a:t>
            </a:r>
          </a:p>
        </p:txBody>
      </p:sp>
      <p:pic>
        <p:nvPicPr>
          <p:cNvPr id="45" name="Picture 44" descr="14_cv_comparison_three_w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97192" y="24688800"/>
            <a:ext cx="5077455" cy="292608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29443680" y="27660600"/>
            <a:ext cx="12984480" cy="5029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300" b="0" i="1">
                <a:solidFill>
                  <a:srgbClr val="584F3A"/>
                </a:solidFill>
                <a:latin typeface="Georgia"/>
              </a:rPr>
              <a:t>Figure 3. Three-way CV comparison — KNN shows the largest leakage gap.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280160" y="28803600"/>
            <a:ext cx="41330880" cy="27432"/>
          </a:xfrm>
          <a:prstGeom prst="rect">
            <a:avLst/>
          </a:prstGeom>
          <a:solidFill>
            <a:srgbClr val="B58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80160" y="28940760"/>
            <a:ext cx="4133088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5832A"/>
                </a:solidFill>
                <a:latin typeface="Georgia"/>
              </a:rPr>
              <a:t>§  R E F E R E N C E S    </a:t>
            </a:r>
            <a:r>
              <a:rPr sz="1300">
                <a:solidFill>
                  <a:srgbClr val="202020"/>
                </a:solidFill>
                <a:latin typeface="Georgia"/>
              </a:rPr>
              <a:t>    [1] Roesler, O. (2013). EEG Eye State Data Set. UCI ML Repository #264. https://archive.ics.uci.edu/dataset/264/eeg+eye+state    [2] Mukamel, R. (2026). COGS 109 — Modelling and Data Analysis Spring 2026 Study Guide. UC San Diego.    [3] James, G., Witten, D., Hastie, T., Tibshirani, R. (2021). An Introduction to Statistical Learning, 2nd ed. Springer.    [4] Bergmeir, C., Benítez, J. M. (2012). On the use of cross-validation for time series predictor evaluation. Information Sciences 191:192–213.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2415480"/>
            <a:ext cx="413308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84F3A"/>
                </a:solidFill>
                <a:latin typeface="Georgia"/>
              </a:rPr>
              <a:t>COGS 109 — Modelling and Data Analysis — Spring 2026 — UC San Diego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Classification of EEG Eye-State via KNN: A Cross-Validation Honesty Study</dc:title>
  <dc:subject>COGS 109 EEG poster — Academic Classic variant</dc:subject>
  <dc:creator>BariBariGood</dc:creator>
  <cp:keywords/>
  <dc:description>generated using python-pptx</dc:description>
  <cp:lastModifiedBy>BariBariGood</cp:lastModifiedBy>
  <cp:revision>1</cp:revision>
  <dcterms:created xsi:type="dcterms:W3CDTF">2026-05-28T00:00:00Z</dcterms:created>
  <dcterms:modified xsi:type="dcterms:W3CDTF">2026-05-28T00:00:00Z</dcterms:modified>
  <cp:category/>
</cp:coreProperties>
</file>