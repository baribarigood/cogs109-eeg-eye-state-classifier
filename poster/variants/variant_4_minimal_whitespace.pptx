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822960"/>
            <a:ext cx="3840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B7280"/>
                </a:solidFill>
                <a:latin typeface="Arial"/>
              </a:rPr>
              <a:t>C O G S   1 0 9     ·     S P R I N G   2 0 2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371600"/>
            <a:ext cx="384048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0" b="1" i="0">
                <a:solidFill>
                  <a:srgbClr val="0A0A0A"/>
                </a:solidFill>
                <a:latin typeface="Arial"/>
              </a:rPr>
              <a:t>Classification of EEG Eye-State via KNN: A Cross-Validation Honesty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649224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6720840"/>
            <a:ext cx="3840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6B7280"/>
                </a:solidFill>
                <a:latin typeface="Arial"/>
              </a:rPr>
              <a:t>Ivan Del Rio · Anish Kondamadugula  |  COGS 109 (Mukamel) · Spring 2026  |  UC San Diego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0"/>
            <a:ext cx="3474720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0" i="1">
                <a:solidFill>
                  <a:srgbClr val="0A0A0A"/>
                </a:solidFill>
                <a:latin typeface="Georgia"/>
              </a:rPr>
              <a:t>How does the choice of cross-validation scheme change the result of an otherwise-identical KNN model-selection procedure?</a:t>
            </a:r>
          </a:p>
        </p:txBody>
      </p:sp>
      <p:pic>
        <p:nvPicPr>
          <p:cNvPr id="8" name="Picture 7" descr="11_knn_k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9617" y="10058400"/>
            <a:ext cx="14991966" cy="9692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0" y="20116800"/>
            <a:ext cx="3840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6B7280"/>
                </a:solidFill>
                <a:latin typeface="Arial"/>
              </a:rPr>
              <a:t>KNN model selection under three CV schemes — all three pick k =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0939760"/>
            <a:ext cx="38404800" cy="5852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0" b="1" i="0">
                <a:solidFill>
                  <a:srgbClr val="2563EB"/>
                </a:solidFill>
                <a:latin typeface="Arial"/>
              </a:rPr>
              <a:t>78% honest.</a:t>
            </a:r>
          </a:p>
          <a:p>
            <a:pPr algn="ctr">
              <a:spcBef>
                <a:spcPts val="400"/>
              </a:spcBef>
            </a:pPr>
            <a:r>
              <a:rPr sz="16000" b="1" i="0">
                <a:solidFill>
                  <a:srgbClr val="6B7280"/>
                </a:solidFill>
                <a:latin typeface="Arial"/>
              </a:rPr>
              <a:t>97% leaky.</a:t>
            </a:r>
          </a:p>
          <a:p>
            <a:pPr algn="ctr">
              <a:spcBef>
                <a:spcPts val="1000"/>
              </a:spcBef>
            </a:pPr>
            <a:r>
              <a:rPr sz="8000" b="1" i="0">
                <a:solidFill>
                  <a:srgbClr val="0A0A0A"/>
                </a:solidFill>
                <a:latin typeface="Arial"/>
              </a:rPr>
              <a:t>The difference is leakage.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854160" y="27249120"/>
            <a:ext cx="36576" cy="2926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7066240"/>
            <a:ext cx="18516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B7280"/>
                </a:solidFill>
                <a:latin typeface="Arial"/>
              </a:rPr>
              <a:t>M E T H O D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569160"/>
            <a:ext cx="1851660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0A0A0A"/>
                </a:solidFill>
                <a:latin typeface="Arial"/>
              </a:rPr>
              <a:t>KNN with Euclidean distance in z-scored 14-D channel space.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A0A0A"/>
                </a:solidFill>
                <a:latin typeface="Arial"/>
              </a:rPr>
              <a:t>Sweep k over log-spaced {1…201}; pick k maximising mean 5-fold CV accuracy.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A0A0A"/>
                </a:solidFill>
                <a:latin typeface="Arial"/>
              </a:rPr>
              <a:t>Three CV schemes: shuffled (leaky), naive blocked, stratified blocked (honest).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31400" y="27066240"/>
            <a:ext cx="18516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B7280"/>
                </a:solidFill>
                <a:latin typeface="Arial"/>
              </a:rPr>
              <a:t>C O N C L U S I O N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31400" y="27569160"/>
            <a:ext cx="1851660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0A0A0A"/>
                </a:solidFill>
                <a:latin typeface="Arial"/>
              </a:rPr>
              <a:t>All three schemes pick k = 1, but reported accuracy spans 47 pp.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A0A0A"/>
                </a:solidFill>
                <a:latin typeface="Arial"/>
              </a:rPr>
              <a:t>Honest accuracy: 77.8% ± 2.7% — well above the 55.12% baseline.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A0A0A"/>
                </a:solidFill>
                <a:latin typeface="Arial"/>
              </a:rPr>
              <a:t>+19.5 pp gap is scheme-choice leakage, not signal. KNN is uniquely vulnerable.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30540960"/>
            <a:ext cx="38404800" cy="2743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8_label_auto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397" y="30769560"/>
            <a:ext cx="2470805" cy="1554480"/>
          </a:xfrm>
          <a:prstGeom prst="rect">
            <a:avLst/>
          </a:prstGeom>
        </p:spPr>
      </p:pic>
      <p:pic>
        <p:nvPicPr>
          <p:cNvPr id="18" name="Picture 17" descr="14_cv_comparison_three_w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7701" y="30769560"/>
            <a:ext cx="2697398" cy="1554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43200" y="323240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Arial"/>
              </a:rPr>
              <a:t>Autocorrelation across lags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0" y="323240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Arial"/>
              </a:rPr>
              <a:t>Three-way CV comparison — LDA / KNN / PCA→LDA / PCR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0769560"/>
            <a:ext cx="314553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B7280"/>
                </a:solidFill>
                <a:latin typeface="Arial"/>
              </a:rPr>
              <a:t>R E F E R E N C E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181040"/>
            <a:ext cx="31455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6B7280"/>
                </a:solidFill>
                <a:latin typeface="Arial"/>
              </a:rPr>
              <a:t>[1] Roesler, O. (2013). EEG Eye State Data Set. UCI ML Repository #264. https://archive.ics.uci.edu/dataset/264/eeg+eye+state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6B7280"/>
                </a:solidFill>
                <a:latin typeface="Arial"/>
              </a:rPr>
              <a:t>[2] Mukamel, R. (2026). COGS 109 — Modelling and Data Analysis Spring 2026 Study Guide. UC San Diego.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6B7280"/>
                </a:solidFill>
                <a:latin typeface="Arial"/>
              </a:rPr>
              <a:t>[3] James, G., Witten, D., Hastie, T., Tibshirani, R. (2021). An Introduction to Statistical Learning, 2nd ed. Springer.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6B7280"/>
                </a:solidFill>
                <a:latin typeface="Arial"/>
              </a:rPr>
              <a:t>[4] Bergmeir, C., Benítez, J. M. (2012). On the use of cross-validation for time series predictor evaluation. Information Sciences 191:192–213.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of EEG Eye-State via KNN: A Cross-Validation Honesty Study</dc:title>
  <dc:subject>COGS 109 EEG poster — Minimal Whitespace variant</dc:subject>
  <dc:creator>BariBariGood</dc:creator>
  <cp:keywords/>
  <dc:description>generated using python-pptx</dc:description>
  <cp:lastModifiedBy>BariBariGood</cp:lastModifiedBy>
  <cp:revision>1</cp:revision>
  <dcterms:created xsi:type="dcterms:W3CDTF">2026-05-28T00:00:00Z</dcterms:created>
  <dcterms:modified xsi:type="dcterms:W3CDTF">2026-05-28T00:00:00Z</dcterms:modified>
  <cp:category/>
</cp:coreProperties>
</file>