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43891200" cy="3291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3891200" cy="329184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640080"/>
            <a:ext cx="40233600" cy="50292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2200" b="1" i="0">
                <a:solidFill>
                  <a:srgbClr val="5B6770"/>
                </a:solidFill>
                <a:latin typeface="Arial"/>
              </a:rPr>
              <a:t>UC SAN DIEGO  /  DEPARTMENT OF COGNITIVE SCIENCE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280160"/>
            <a:ext cx="40233600" cy="219456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8400" b="1" i="0">
                <a:solidFill>
                  <a:srgbClr val="1A1A1A"/>
                </a:solidFill>
                <a:latin typeface="Arial"/>
              </a:rPr>
              <a:t>Classification of EEG Eye-State via KNN: A Cross-Validation Honesty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566160"/>
            <a:ext cx="40233600" cy="50292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2400" b="0" i="1">
                <a:solidFill>
                  <a:srgbClr val="5B6770"/>
                </a:solidFill>
                <a:latin typeface="Georgia"/>
              </a:rPr>
              <a:t>Ivan Del Rio · Anish Kondamadugula  |  COGS 109 (Mukamel) · Spring 2026  |  UC San Diego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0" y="4297680"/>
            <a:ext cx="40233600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4480560"/>
            <a:ext cx="40233600" cy="777240"/>
          </a:xfrm>
          <a:prstGeom prst="rect">
            <a:avLst/>
          </a:prstGeom>
          <a:noFill/>
        </p:spPr>
        <p:txBody>
          <a:bodyPr wrap="square" anchor="ctr" lIns="182880" rIns="182880" tIns="91440" bIns="91440">
            <a:spAutoFit/>
          </a:bodyPr>
          <a:lstStyle/>
          <a:p>
            <a:pPr algn="ctr"/>
            <a:r>
              <a:rPr sz="2000" b="1" i="0">
                <a:solidFill>
                  <a:srgbClr val="D97757"/>
                </a:solidFill>
                <a:latin typeface="Arial"/>
              </a:rPr>
              <a:t>THE QUESTION    </a:t>
            </a:r>
            <a:r>
              <a:rPr sz="2200" i="1">
                <a:solidFill>
                  <a:srgbClr val="1A1A1A"/>
                </a:solidFill>
                <a:latin typeface="Georgia"/>
              </a:rPr>
              <a:t>Given an autocorrelated single-subject EEG recording and a KNN classifier, how does the choice of cross-validation scheme change the result of an otherwise-identical model-selection procedure?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394960"/>
            <a:ext cx="13045440" cy="46012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2000" b="1" i="0">
                <a:solidFill>
                  <a:srgbClr val="9AA2A8"/>
                </a:solidFill>
                <a:latin typeface="Arial"/>
              </a:rPr>
              <a:t>97%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9996220"/>
            <a:ext cx="13045440" cy="16166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0" i="1">
                <a:solidFill>
                  <a:srgbClr val="5B6770"/>
                </a:solidFill>
                <a:latin typeface="Georgia"/>
              </a:rPr>
              <a:t>shuffled / leaky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422880" y="5394960"/>
            <a:ext cx="13045440" cy="46012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4000" b="1" i="0">
                <a:solidFill>
                  <a:srgbClr val="D97757"/>
                </a:solidFill>
                <a:latin typeface="Arial"/>
              </a:rPr>
              <a:t>78%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422880" y="9996220"/>
            <a:ext cx="13045440" cy="16166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0" i="1">
                <a:solidFill>
                  <a:srgbClr val="1A1A1A"/>
                </a:solidFill>
                <a:latin typeface="Georgia"/>
              </a:rPr>
              <a:t>stratified blocked / honest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16960" y="5394960"/>
            <a:ext cx="13045440" cy="46012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2000" b="1" i="0">
                <a:solidFill>
                  <a:srgbClr val="9AA2A8"/>
                </a:solidFill>
                <a:latin typeface="Arial"/>
              </a:rPr>
              <a:t>50%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016960" y="9996220"/>
            <a:ext cx="13045440" cy="16166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0" i="1">
                <a:solidFill>
                  <a:srgbClr val="5B6770"/>
                </a:solidFill>
                <a:latin typeface="Georgia"/>
              </a:rPr>
              <a:t>naive blocked / punitive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11750040"/>
            <a:ext cx="402336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0" i="1">
                <a:solidFill>
                  <a:srgbClr val="5B6770"/>
                </a:solidFill>
                <a:latin typeface="Georgia"/>
              </a:rPr>
              <a:t>shuffled (leaky) 0.9728 ± 0.0037  •  naive blocked 0.5004 ± 0.1068  •  stratified blocked (honest) 0.7778 ± 0.0274  (all schemes pick k = 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12435840"/>
            <a:ext cx="37490400" cy="2011680"/>
          </a:xfrm>
          <a:prstGeom prst="rect">
            <a:avLst/>
          </a:prstGeom>
          <a:noFill/>
        </p:spPr>
        <p:txBody>
          <a:bodyPr wrap="square" anchor="ctr" lIns="182880" rIns="182880" tIns="91440" bIns="91440">
            <a:spAutoFit/>
          </a:bodyPr>
          <a:lstStyle/>
          <a:p>
            <a:pPr algn="ctr"/>
            <a:r>
              <a:rPr sz="4600" b="0" i="1">
                <a:solidFill>
                  <a:srgbClr val="1A1A1A"/>
                </a:solidFill>
                <a:latin typeface="Georgia"/>
              </a:rPr>
              <a:t>“Shuffled CV says we have a 97% classifier. Honest stratified blocked CV says we have a 78% classifier. The difference is leakage, not signal.”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0" y="14721840"/>
            <a:ext cx="40233600" cy="457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11_knn_k_sw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69545" y="14996159"/>
            <a:ext cx="18952109" cy="1225296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011680" y="15910559"/>
            <a:ext cx="731520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D97757"/>
                </a:solidFill>
                <a:latin typeface="Arial"/>
              </a:rPr>
              <a:t>Shuffled 5-fold CV</a:t>
            </a:r>
          </a:p>
          <a:p>
            <a:pPr algn="l">
              <a:spcBef>
                <a:spcPts val="400"/>
              </a:spcBef>
            </a:pPr>
            <a:r>
              <a:rPr sz="1500" b="0" i="1">
                <a:solidFill>
                  <a:srgbClr val="1A1A1A"/>
                </a:solidFill>
                <a:latin typeface="Georgia"/>
              </a:rPr>
              <a:t>Sits at 0.97 across every k. Looks dazzling, but the random shuffle leaks adjacent samples (lag-1 autocorr ≈ 0.997) into both train and test.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564320" y="15910559"/>
            <a:ext cx="731520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D97757"/>
                </a:solidFill>
                <a:latin typeface="Arial"/>
              </a:rPr>
              <a:t>Stratified blocked CV</a:t>
            </a:r>
          </a:p>
          <a:p>
            <a:pPr algn="l">
              <a:spcBef>
                <a:spcPts val="400"/>
              </a:spcBef>
            </a:pPr>
            <a:r>
              <a:rPr sz="1500" b="0" i="1">
                <a:solidFill>
                  <a:srgbClr val="1A1A1A"/>
                </a:solidFill>
                <a:latin typeface="Georgia"/>
              </a:rPr>
              <a:t>0.778 ± 0.027 at k=1 — honest, time-aware, well above the 0.5512 majority-class floor. This is the number to quote.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22677119"/>
            <a:ext cx="73152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D97757"/>
                </a:solidFill>
                <a:latin typeface="Arial"/>
              </a:rPr>
              <a:t>Naive blocked CV</a:t>
            </a:r>
          </a:p>
          <a:p>
            <a:pPr algn="l">
              <a:spcBef>
                <a:spcPts val="400"/>
              </a:spcBef>
            </a:pPr>
            <a:r>
              <a:rPr sz="1500" b="0" i="1">
                <a:solidFill>
                  <a:srgbClr val="1A1A1A"/>
                </a:solidFill>
                <a:latin typeface="Georgia"/>
              </a:rPr>
              <a:t>0.500 ± 0.107: too punitive — 5 contiguous chunks let class proportion drift across folds, so the mean drops far below baseline.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564320" y="22677119"/>
            <a:ext cx="73152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D97757"/>
                </a:solidFill>
                <a:latin typeface="Arial"/>
              </a:rPr>
              <a:t>The headline gap</a:t>
            </a:r>
          </a:p>
          <a:p>
            <a:pPr algn="l">
              <a:spcBef>
                <a:spcPts val="400"/>
              </a:spcBef>
            </a:pPr>
            <a:r>
              <a:rPr sz="1500" b="0" i="1">
                <a:solidFill>
                  <a:srgbClr val="1A1A1A"/>
                </a:solidFill>
                <a:latin typeface="Georgia"/>
              </a:rPr>
              <a:t>0.973 − 0.778 = +19.5 percentage points. That gap is leakage attributable to scheme choice on an autocorrelated single-subject recording — not a better model.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27340559"/>
            <a:ext cx="40233600" cy="50292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/>
            <a:r>
              <a:rPr sz="1800" b="0" i="1">
                <a:solidFill>
                  <a:srgbClr val="5B6770"/>
                </a:solidFill>
                <a:latin typeface="Georgia"/>
              </a:rPr>
              <a:t>Fig. 1.  KNN mean accuracy ± std-dev vs k (log scale) under three CV schemes — all three pick k = 1, but the picked accuracies span 47 percentage points.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0" y="27843480"/>
            <a:ext cx="40233600" cy="457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828800" y="28117800"/>
            <a:ext cx="13045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D97757"/>
                </a:solidFill>
                <a:latin typeface="Arial"/>
              </a:rPr>
              <a:t>METHODS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28800" y="28620720"/>
            <a:ext cx="13045440" cy="228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828800" y="28803600"/>
            <a:ext cx="130454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>
                <a:solidFill>
                  <a:srgbClr val="1A1A1A"/>
                </a:solidFill>
                <a:latin typeface="Georgia"/>
              </a:rPr>
              <a:t>—  Approach: classification (binary eyeDetection target).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A1A1A"/>
                </a:solidFill>
                <a:latin typeface="Georgia"/>
              </a:rPr>
              <a:t>—  Model: K-nearest neighbours with Euclidean distance in z-scored 14-D channel space. Chosen because KNN's per-sample similarity decision rule is the COGS 109-palette model most sensitive to lag-1 autocorrelation.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A1A1A"/>
                </a:solidFill>
                <a:latin typeface="Georgia"/>
              </a:rPr>
              <a:t>—  Model selection: sweep k over {1, 3, 5, 7, 11, 15, 21, 31, 51, 75, 99, 151, 201} (log-spaced); pick the k maximising mean 5-fold CV accuracy.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A1A1A"/>
                </a:solidFill>
                <a:latin typeface="Georgia"/>
              </a:rPr>
              <a:t>—  CV scheme A — shuffled 5-fold (leaky baseline).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A1A1A"/>
                </a:solidFill>
                <a:latin typeface="Georgia"/>
              </a:rPr>
              <a:t>—  CV scheme B — naive blocked 5-fold (5 contiguous time chunks).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A1A1A"/>
                </a:solidFill>
                <a:latin typeface="Georgia"/>
              </a:rPr>
              <a:t>—  CV scheme C — stratified blocked 5-fold (100 short contiguous segments redistributed across folds to balance class proportion; honest).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A1A1A"/>
                </a:solidFill>
                <a:latin typeface="Georgia"/>
              </a:rPr>
              <a:t>—  Preprocessing: drop 4 voltage outliers (&gt;4 SD on any channel), chronological 80/20 split with a 64-sample seam gap, z-score on the training partition only.</a:t>
            </a:r>
          </a:p>
        </p:txBody>
      </p:sp>
      <p:pic>
        <p:nvPicPr>
          <p:cNvPr id="27" name="Picture 26" descr="08_label_autocorrel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8105" y="31226760"/>
            <a:ext cx="2906829" cy="18288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828800" y="33101280"/>
            <a:ext cx="13045440" cy="50292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/>
            <a:r>
              <a:rPr sz="1100" b="0" i="1">
                <a:solidFill>
                  <a:srgbClr val="5B6770"/>
                </a:solidFill>
                <a:latin typeface="Georgia"/>
              </a:rPr>
              <a:t>Fig. 2.  Label autocorrelation across lags — motivates blocked CV.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422880" y="28117800"/>
            <a:ext cx="13045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D97757"/>
                </a:solidFill>
                <a:latin typeface="Arial"/>
              </a:rPr>
              <a:t>CONCLUSIONS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5422880" y="28620720"/>
            <a:ext cx="13045440" cy="228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5422880" y="28803600"/>
            <a:ext cx="130454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>
                <a:solidFill>
                  <a:srgbClr val="1A1A1A"/>
                </a:solidFill>
                <a:latin typeface="Georgia"/>
              </a:rPr>
              <a:t>—  (1) The same KNN-k-sweep model-selection procedure picks k = 1 under all three CV schemes — but the accuracy at that k varies by 47 percentage points (50.0% naive blocked → 97.3% shuffled).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A1A1A"/>
                </a:solidFill>
                <a:latin typeface="Georgia"/>
              </a:rPr>
              <a:t>—  (2) The honest accuracy at k = 1 (stratified blocked CV) is 77.8% ± 2.7% — well above the 55.12% majority-class baseline.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A1A1A"/>
                </a:solidFill>
                <a:latin typeface="Georgia"/>
              </a:rPr>
              <a:t>—  (3) The 19.5 pp gap between the leaky and honest estimates is leakage attributable to scheme choice, not signal from a better model.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A1A1A"/>
                </a:solidFill>
                <a:latin typeface="Georgia"/>
              </a:rPr>
              <a:t>—  (4) Alternative classifiers (LDA / PCA→LDA / PCR) confirm KNN is uniquely vulnerable — their leakage gaps are only 2–6 pp, as theory predicts for classifiers that do not depend on per-sample similarity.</a:t>
            </a:r>
          </a:p>
        </p:txBody>
      </p:sp>
      <p:pic>
        <p:nvPicPr>
          <p:cNvPr id="32" name="Picture 31" descr="14_cv_comparison_three_w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58895" y="31226760"/>
            <a:ext cx="3173409" cy="18288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5422880" y="33101280"/>
            <a:ext cx="13045440" cy="50292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/>
            <a:r>
              <a:rPr sz="1100" b="0" i="1">
                <a:solidFill>
                  <a:srgbClr val="5B6770"/>
                </a:solidFill>
                <a:latin typeface="Georgia"/>
              </a:rPr>
              <a:t>Fig. 3.  Three-way CV comparison — KNN has the largest leakage gap.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016960" y="28117800"/>
            <a:ext cx="13045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D97757"/>
                </a:solidFill>
                <a:latin typeface="Arial"/>
              </a:rPr>
              <a:t>SUPPORTING EVIDENCE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9016960" y="28620720"/>
            <a:ext cx="13045440" cy="228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9016960" y="28803600"/>
            <a:ext cx="130454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Georgia"/>
              </a:rPr>
              <a:t>—  We also evaluated three alternative classifiers (LDA, PCA→LDA, PCR-as-classifier) as sanity checks, sweeping their hyperparameters under the same three CV schemes.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Georgia"/>
              </a:rPr>
              <a:t>—  LDA leakage gap (shuffled minus stratified blocked): +5.6 pp.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Georgia"/>
              </a:rPr>
              <a:t>—  PCA→LDA (n=3) leakage gap: +2.4 pp.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Georgia"/>
              </a:rPr>
              <a:t>—  PCR-as-classifier (n=2) leakage gap: +2.8 pp.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Georgia"/>
              </a:rPr>
              <a:t>—  KNN's +19.5 pp gap is the outlier — consistent with KNN exploiting per-sample similarity while LDA / PCA→LDA / PCR average over many samples before deciding. See figure 14 + tables/03 for full numbers.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016960" y="31089600"/>
            <a:ext cx="13045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D97757"/>
                </a:solidFill>
                <a:latin typeface="Arial"/>
              </a:rPr>
              <a:t>REFERENCES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016960" y="31592520"/>
            <a:ext cx="13045440" cy="228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9016960" y="31775400"/>
            <a:ext cx="130454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>
                <a:solidFill>
                  <a:srgbClr val="5B6770"/>
                </a:solidFill>
                <a:latin typeface="Georgia"/>
              </a:rPr>
              <a:t>[1] Roesler, O. (2013). EEG Eye State Data Set. UCI ML Repository #264. https://archive.ics.uci.edu/dataset/264/eeg+eye+state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5B6770"/>
                </a:solidFill>
                <a:latin typeface="Georgia"/>
              </a:rPr>
              <a:t>[2] Mukamel, R. (2026). COGS 109 — Modelling and Data Analysis Spring 2026 Study Guide. UC San Diego.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5B6770"/>
                </a:solidFill>
                <a:latin typeface="Georgia"/>
              </a:rPr>
              <a:t>[3] James, G., Witten, D., Hastie, T., Tibshirani, R. (2021). An Introduction to Statistical Learning, 2nd ed. Springer.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5B6770"/>
                </a:solidFill>
                <a:latin typeface="Georgia"/>
              </a:rPr>
              <a:t>[4] Bergmeir, C., Benítez, J. M. (2012). On the use of cross-validation for time series predictor evaluation. Information Sciences 191:192–213.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28800" y="32461200"/>
            <a:ext cx="40233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5B6770"/>
                </a:solidFill>
                <a:latin typeface="Georgia"/>
              </a:rPr>
              <a:t>github.com/BariBariGood/cogs109-eeg-eye-state-classifier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32461200"/>
            <a:ext cx="40233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300" b="0" i="1">
                <a:solidFill>
                  <a:srgbClr val="5B6770"/>
                </a:solidFill>
                <a:latin typeface="Georgia"/>
              </a:rPr>
              <a:t>COGS 109 — Modelling &amp; Data Analysis — Spring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Classification of EEG Eye-State via KNN: A Cross-Validation Honesty Study</dc:title>
  <dc:subject>COGS 109 EEG poster — Editorial Hero variant</dc:subject>
  <dc:creator>BariBariGood</dc:creator>
  <cp:keywords/>
  <dc:description>generated using python-pptx</dc:description>
  <cp:lastModifiedBy>BariBariGood</cp:lastModifiedBy>
  <cp:revision>1</cp:revision>
  <dcterms:created xsi:type="dcterms:W3CDTF">2026-05-28T00:00:00Z</dcterms:created>
  <dcterms:modified xsi:type="dcterms:W3CDTF">2026-05-28T00:00:00Z</dcterms:modified>
  <cp:category/>
</cp:coreProperties>
</file>