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07408"/>
            <a:ext cx="43891200" cy="164592"/>
          </a:xfrm>
          <a:prstGeom prst="rect">
            <a:avLst/>
          </a:prstGeom>
          <a:solidFill>
            <a:srgbClr val="C69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3520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0">
                <a:solidFill>
                  <a:srgbClr val="C9D2E6"/>
                </a:solidFill>
                <a:latin typeface="Calibri"/>
              </a:rPr>
              <a:t>UC San Diego  •  Department of Cognitive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51560"/>
            <a:ext cx="3520440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Classifying Eye State from EEG Signals: An Honest Cross-Validation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11880"/>
            <a:ext cx="41330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Ivan Del Rio  /  Anish Kondamadugula      COGS 109  •  Mukamel  •  Spring 2026      University of California, San Diego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80" y="548640"/>
            <a:ext cx="6400800" cy="3108960"/>
          </a:xfrm>
          <a:prstGeom prst="rect">
            <a:avLst/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0" y="548640"/>
            <a:ext cx="640080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UC SAN DIEGO</a:t>
            </a:r>
          </a:p>
          <a:p>
            <a:pPr algn="ctr">
              <a:spcBef>
                <a:spcPts val="800"/>
              </a:spcBef>
            </a:pPr>
            <a:r>
              <a:rPr sz="2400" b="0">
                <a:solidFill>
                  <a:srgbClr val="C69614"/>
                </a:solidFill>
                <a:latin typeface="Calibri"/>
              </a:rPr>
              <a:t>COGS 109 — Spring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3655040" cy="6035040"/>
          </a:xfrm>
          <a:prstGeom prst="rect">
            <a:avLst/>
          </a:prstGeom>
          <a:solidFill>
            <a:srgbClr val="FAFAFC"/>
          </a:solidFill>
        </p:spPr>
        <p:txBody>
          <a:bodyPr wrap="square" anchor="t" lIns="228600" rIns="228600" tIns="114300" bIns="114300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101010"/>
                </a:solidFill>
                <a:latin typeface="Calibri"/>
              </a:rPr>
              <a:t>We classify per-sample eye state (open vs. closed) from a single-subject 14-channel EEG recording (UCI #264, 14,980 samples) using only the methods in the COGS 109 palette: LDA, KNN, PCA→LDA, and PCR-as-classifier. The central contribution is methodological. Standard shuffled k-fold CV reports 97% accuracy for KNN, but the recording is a continuous time series with lag-1 channel autocorrelation r ≈ 0.997 and only 24 contiguous label runs, so shuffled folds leak neighbouring samples from train into test. We compare three CV schemes — shuffled, naive blocked, and stratified blocked — and show that the honest stratified blocked estimate of our best classifier is 77.8% ± 2.7%, not 97%. The headline takeaway: roughly twenty accuracy points reported in the literature on this dataset are leakage, not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225296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225296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030200"/>
            <a:ext cx="13655040" cy="2377440"/>
          </a:xfrm>
          <a:prstGeom prst="rect">
            <a:avLst/>
          </a:prstGeom>
          <a:solidFill>
            <a:srgbClr val="F5EAC8"/>
          </a:solidFill>
        </p:spPr>
        <p:txBody>
          <a:bodyPr wrap="square" anchor="ctr" lIns="228600" rIns="228600" tIns="114300" bIns="114300">
            <a:spAutoFit/>
          </a:bodyPr>
          <a:lstStyle/>
          <a:p>
            <a:pPr algn="just">
              <a:spcAft>
                <a:spcPts val="600"/>
              </a:spcAft>
            </a:pPr>
            <a:r>
              <a:rPr sz="2200" b="1">
                <a:solidFill>
                  <a:srgbClr val="101010"/>
                </a:solidFill>
                <a:latin typeface="Calibri"/>
              </a:rPr>
              <a:t>Can raw 14-channel EEG voltages predict whether a person's eyes are open or closed, and how much of the accuracy reported under shuffled cross-validation is an artefact of temporal leakage?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572768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572768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6504920"/>
            <a:ext cx="13655040" cy="15133320"/>
          </a:xfrm>
          <a:prstGeom prst="rect">
            <a:avLst/>
          </a:prstGeom>
          <a:solidFill>
            <a:srgbClr val="FAFAFC"/>
          </a:solidFill>
        </p:spPr>
        <p:txBody>
          <a:bodyPr wrap="square" anchor="t" lIns="228600" rIns="228600" tIns="114300" bIns="1143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UCI EEG Eye State dataset (Roesler, 2013) — id #264.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14,980 samples × 14 Emotiv channels (AF3, F7, F3, FC5, T7, P7, O1, O2, P8, T8, FC6, F4, F8, AF4), sampled at 128 Hz over ~117 s.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Single subject, binary eyeDetection label, 55.12% open / 44.88% closed.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Only 24 contiguous label runs in the whole recording.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Channel autocorrelation at lag 1 ≈ 0.997 — adjacent samples are nearly identical, so shuffled folds put near-duplicates in train and test.</a:t>
            </a:r>
          </a:p>
        </p:txBody>
      </p:sp>
      <p:pic>
        <p:nvPicPr>
          <p:cNvPr id="19" name="Picture 18" descr="08_label_auto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62520"/>
            <a:ext cx="13289280" cy="83608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28569045"/>
            <a:ext cx="1328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i="1">
                <a:solidFill>
                  <a:srgbClr val="404040"/>
                </a:solidFill>
                <a:latin typeface="Calibri"/>
              </a:rPr>
              <a:t>Fig. 1.  Label autocorrelation across lags — motivates blocked CV.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18080" y="512064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118080" y="512064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18080" y="5897880"/>
            <a:ext cx="13655040" cy="5486400"/>
          </a:xfrm>
          <a:prstGeom prst="rect">
            <a:avLst/>
          </a:prstGeom>
          <a:solidFill>
            <a:srgbClr val="FAFAFC"/>
          </a:solidFill>
        </p:spPr>
        <p:txBody>
          <a:bodyPr wrap="square" anchor="t" lIns="228600" rIns="228600" tIns="114300" bIns="1143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Models (COGS 109 palette): LDA, KNN (k tuned), PCA→LDA, PCR as binary classifier with a 0.5 threshold.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Preprocessing: drop 4 voltage outliers (&gt;4 SD on any channel), z-score on train only, chronological 80/20 split with a 64-sample seam gap between train and test.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CV scheme A — shuffled 5-fold (leaky baseline).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CV scheme B — naive blocked 5-fold (5 contiguous time chunks).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CV scheme C — stratified blocked 5-fold (100 short contiguous segments redistributed across folds to balance class proportion).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Hyperparameters chosen by maximum mean blocked CV accuracy.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18080" y="1170432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18080" y="1170432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TAKE-HOME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18080" y="12481560"/>
            <a:ext cx="13655040" cy="4206240"/>
          </a:xfrm>
          <a:prstGeom prst="rect">
            <a:avLst/>
          </a:prstGeom>
          <a:solidFill>
            <a:srgbClr val="F5EAC8"/>
          </a:solidFill>
        </p:spPr>
        <p:txBody>
          <a:bodyPr wrap="square" anchor="ctr" lIns="274320" rIns="274320" tIns="137160" bIns="137160">
            <a:spAutoFit/>
          </a:bodyPr>
          <a:lstStyle/>
          <a:p>
            <a:pPr algn="ctr"/>
            <a:r>
              <a:rPr sz="2800" b="1">
                <a:solidFill>
                  <a:srgbClr val="101010"/>
                </a:solidFill>
                <a:latin typeface="Calibri"/>
              </a:rPr>
              <a:t>Shuffled CV says we have a 97% classifier.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B03030"/>
                </a:solidFill>
                <a:latin typeface="Calibri"/>
              </a:rPr>
              <a:t>Honest stratified blocked CV says we have a 78% classifier.</a:t>
            </a:r>
          </a:p>
          <a:p>
            <a:pPr algn="ctr">
              <a:spcBef>
                <a:spcPts val="1000"/>
              </a:spcBef>
            </a:pPr>
            <a:r>
              <a:rPr sz="2400" i="1">
                <a:solidFill>
                  <a:srgbClr val="101010"/>
                </a:solidFill>
                <a:latin typeface="Calibri"/>
              </a:rPr>
              <a:t>The difference is leakage, not signal.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118080" y="1700784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18080" y="1700784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HEADLINE FIGURE</a:t>
            </a:r>
          </a:p>
        </p:txBody>
      </p:sp>
      <p:pic>
        <p:nvPicPr>
          <p:cNvPr id="29" name="Picture 28" descr="14_cv_comparison_three_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8080" y="17785080"/>
            <a:ext cx="13655040" cy="78692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118080" y="25700044"/>
            <a:ext cx="1365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i="1">
                <a:solidFill>
                  <a:srgbClr val="404040"/>
                </a:solidFill>
                <a:latin typeface="Calibri"/>
              </a:rPr>
              <a:t>Fig. 2.  Three-way CV comparison — shuffled vs. naive blocked vs. stratified blocked, across LDA / KNN / PCA→LDA / PCR.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321760" y="512064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21760" y="512064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9321760" y="5897880"/>
          <a:ext cx="136550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108"/>
                <a:gridCol w="3550310"/>
                <a:gridCol w="3550310"/>
                <a:gridCol w="355031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1F3D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Shuffled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(leaky)</a:t>
                      </a:r>
                    </a:p>
                  </a:txBody>
                  <a:tcPr marL="73152" marR="73152" marT="36576" marB="36576">
                    <a:solidFill>
                      <a:srgbClr val="1F3D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Naive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73152" marR="73152" marT="36576" marB="36576">
                    <a:solidFill>
                      <a:srgbClr val="1F3D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Stratified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73152" marR="73152" marT="36576" marB="36576">
                    <a:solidFill>
                      <a:srgbClr val="1F3D7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LDA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0.647 ± 0.006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0.408 ± 0.122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010"/>
                          </a:solidFill>
                          <a:latin typeface="Calibri"/>
                        </a:rPr>
                        <a:t>0.591 ± 0.047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KNN (k=1)</a:t>
                      </a:r>
                    </a:p>
                  </a:txBody>
                  <a:tcPr marL="73152" marR="73152" marT="36576" marB="36576">
                    <a:solidFill>
                      <a:srgbClr val="F5EA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0.973 ± 0.004</a:t>
                      </a:r>
                    </a:p>
                  </a:txBody>
                  <a:tcPr marL="73152" marR="73152" marT="36576" marB="36576">
                    <a:solidFill>
                      <a:srgbClr val="F5EA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0.500 ± 0.107</a:t>
                      </a:r>
                    </a:p>
                  </a:txBody>
                  <a:tcPr marL="73152" marR="73152" marT="36576" marB="36576">
                    <a:solidFill>
                      <a:srgbClr val="F5EA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010"/>
                          </a:solidFill>
                          <a:latin typeface="Calibri"/>
                        </a:rPr>
                        <a:t>0.778 ± 0.027</a:t>
                      </a:r>
                    </a:p>
                  </a:txBody>
                  <a:tcPr marL="73152" marR="73152" marT="36576" marB="36576">
                    <a:solidFill>
                      <a:srgbClr val="F5EAC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PCA→LDA (n=3)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0.557 ± 0.015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0.410 ± 0.083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010"/>
                          </a:solidFill>
                          <a:latin typeface="Calibri"/>
                        </a:rPr>
                        <a:t>0.534 ± 0.044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PCR (n=2)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0.553 ± 0.009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01010"/>
                          </a:solidFill>
                          <a:latin typeface="Calibri"/>
                        </a:rPr>
                        <a:t>0.408 ± 0.130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010"/>
                          </a:solidFill>
                          <a:latin typeface="Calibri"/>
                        </a:rPr>
                        <a:t>0.525 ± 0.018</a:t>
                      </a:r>
                    </a:p>
                  </a:txBody>
                  <a:tcPr marL="73152" marR="73152" marT="36576" marB="36576"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pic>
        <p:nvPicPr>
          <p:cNvPr id="34" name="Picture 33" descr="15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7948" y="9326880"/>
            <a:ext cx="5222663" cy="47548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9321760" y="14127480"/>
            <a:ext cx="1365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i="1">
                <a:solidFill>
                  <a:srgbClr val="404040"/>
                </a:solidFill>
                <a:latin typeface="Calibri"/>
              </a:rPr>
              <a:t>Fig. 3.  Confusion matrices on holdout test (91% class-0 — interpret with care).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321760" y="1481328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321760" y="1481328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321760" y="15590520"/>
            <a:ext cx="13655040" cy="4206240"/>
          </a:xfrm>
          <a:prstGeom prst="rect">
            <a:avLst/>
          </a:prstGeom>
          <a:solidFill>
            <a:srgbClr val="FAFAFC"/>
          </a:solidFill>
        </p:spPr>
        <p:txBody>
          <a:bodyPr wrap="square" anchor="t" lIns="228600" rIns="228600" tIns="114300" bIns="1143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101010"/>
                </a:solidFill>
                <a:latin typeface="Calibri"/>
              </a:rPr>
              <a:t>•  Best honest model: KNN (k=1) at 77.8% ± 2.7% stratified blocked CV — well above the 55% majority baseline and the best accuracy any model in the palette achieved under a temporally honest split.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01010"/>
                </a:solidFill>
                <a:latin typeface="Calibri"/>
              </a:rPr>
              <a:t>•  Leakage gap (shuffled minus stratified blocked) averages ~13 pp across models and reaches ~19.5 pp on KNN, which exploits lag-1 autocorrelation almost perfectly when adjacent samples land in the same fold.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01010"/>
                </a:solidFill>
                <a:latin typeface="Calibri"/>
              </a:rPr>
              <a:t>•  Pedagogical implication: published EEG eye-state results above 95% almost certainly reflect shuffled-CV leakage rather than genuine discrimination from the raw voltage vector alone.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321760" y="2002536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321760" y="2002536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321760" y="20802600"/>
            <a:ext cx="13655040" cy="2468880"/>
          </a:xfrm>
          <a:prstGeom prst="rect">
            <a:avLst/>
          </a:prstGeom>
          <a:solidFill>
            <a:srgbClr val="FAFAFC"/>
          </a:solidFill>
        </p:spPr>
        <p:txBody>
          <a:bodyPr wrap="square" anchor="t" lIns="228600" rIns="228600" tIns="114300" bIns="1143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101010"/>
                </a:solidFill>
                <a:latin typeface="Calibri"/>
              </a:rPr>
              <a:t>•  Windowed features (rolling channel means/variances) to give models temporal context without leakage.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01010"/>
                </a:solidFill>
                <a:latin typeface="Calibri"/>
              </a:rPr>
              <a:t>•  Cross-subject generalisation — single-subject data tells us nothing about inter-subject transfer.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01010"/>
                </a:solidFill>
                <a:latin typeface="Calibri"/>
              </a:rPr>
              <a:t>•  Longer recordings with more label transitions per subject to make blocked CV less brittle.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321760" y="23500080"/>
            <a:ext cx="13655040" cy="640080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321760" y="23500080"/>
            <a:ext cx="1365504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321760" y="24277320"/>
            <a:ext cx="13655040" cy="7360920"/>
          </a:xfrm>
          <a:prstGeom prst="rect">
            <a:avLst/>
          </a:prstGeom>
          <a:solidFill>
            <a:srgbClr val="FAFAFC"/>
          </a:solidFill>
        </p:spPr>
        <p:txBody>
          <a:bodyPr wrap="square" anchor="t" lIns="228600" rIns="228600" tIns="114300" bIns="1143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101010"/>
                </a:solidFill>
                <a:latin typeface="Calibri"/>
              </a:rPr>
              <a:t>[1] Roesler, O. (2013). EEG Eye State Data Set. UCI ML Repository #264. https://archive.ics.uci.edu/dataset/264/eeg+eye+state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01010"/>
                </a:solidFill>
                <a:latin typeface="Calibri"/>
              </a:rPr>
              <a:t>[2] Mukamel, R. (2026). COGS 109 — Modelling and Data Analysis Spring 2026 Study Guide. UC San Diego.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01010"/>
                </a:solidFill>
                <a:latin typeface="Calibri"/>
              </a:rPr>
              <a:t>[3] Roy, Y., Banville, H., Albuquerque, I., et al. (2019). Deep learning-based EEG analysis: a systematic review. J. Neural Eng. 16(5):051001.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01010"/>
                </a:solidFill>
                <a:latin typeface="Calibri"/>
              </a:rPr>
              <a:t>[4] Schirrmeister, R. T., Springenberg, J. T., et al. (2017). Deep learning with CNNs for EEG decoding and visualization. Hum. Brain Mapp. 38(11):5391–5420.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101010"/>
                </a:solidFill>
                <a:latin typeface="Calibri"/>
              </a:rPr>
              <a:t>[5] James, G., Witten, D., Hastie, T., Tibshirani, R. (2021). An Introduction to Statistical Learning, 2nd ed. Springer.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2004000"/>
            <a:ext cx="438912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" y="32004000"/>
            <a:ext cx="41330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8DEE8"/>
                </a:solidFill>
                <a:latin typeface="Calibri"/>
              </a:rPr>
              <a:t>Source code &amp; full report:  github.com/BariBariGood/cogs109-eeg-eye-state-classifier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0" y="32004000"/>
            <a:ext cx="12435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D8DEE8"/>
                </a:solidFill>
                <a:latin typeface="Calibri"/>
              </a:rPr>
              <a:t>COGS 109 — Modelling and Data Analysis —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Classifying Eye State from EEG Signals: An Honest Cross-Validation Study</dc:title>
  <dc:subject>COGS 109 Spring 2026 — EEG Eye-State Classifier</dc:subject>
  <dc:creator>BariBariGood</dc:creator>
  <cp:keywords/>
  <dc:description>generated using python-pptx</dc:description>
  <cp:lastModifiedBy>BariBariGood</cp:lastModifiedBy>
  <cp:revision>1</cp:revision>
  <dcterms:created xsi:type="dcterms:W3CDTF">2026-05-28T00:00:00Z</dcterms:created>
  <dcterms:modified xsi:type="dcterms:W3CDTF">2026-05-28T00:00:00Z</dcterms:modified>
  <cp:category/>
</cp:coreProperties>
</file>