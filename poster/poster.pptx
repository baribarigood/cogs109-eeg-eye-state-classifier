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3291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0" cy="4572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07408"/>
            <a:ext cx="43891200" cy="164592"/>
          </a:xfrm>
          <a:prstGeom prst="rect">
            <a:avLst/>
          </a:prstGeom>
          <a:solidFill>
            <a:srgbClr val="C69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11480"/>
            <a:ext cx="3520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0">
                <a:solidFill>
                  <a:srgbClr val="C9D2E6"/>
                </a:solidFill>
                <a:latin typeface="Calibri"/>
              </a:rPr>
              <a:t>UC San Diego  •  Department of Cognitive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051560"/>
            <a:ext cx="3520440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Classification of EEG Eye-State via KNN: A Cross-Validation Honesty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11880"/>
            <a:ext cx="41330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Ivan Del Rio  /  Anish Kondamadugula      COGS 109  •  Mukamel  •  Spring 2026      University of California, San Diego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58880" y="548640"/>
            <a:ext cx="6400800" cy="3108960"/>
          </a:xfrm>
          <a:prstGeom prst="rect">
            <a:avLst/>
          </a:prstGeom>
          <a:solidFill>
            <a:srgbClr val="16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80" y="548640"/>
            <a:ext cx="6400800" cy="3108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UC SAN DIEGO</a:t>
            </a:r>
          </a:p>
          <a:p>
            <a:pPr algn="ctr">
              <a:spcBef>
                <a:spcPts val="800"/>
              </a:spcBef>
            </a:pPr>
            <a:r>
              <a:rPr sz="2400" b="0">
                <a:solidFill>
                  <a:srgbClr val="C69614"/>
                </a:solidFill>
                <a:latin typeface="Calibri"/>
              </a:rPr>
              <a:t>COGS 109 — Spring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2064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ABSTRACT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97880"/>
            <a:ext cx="13655040" cy="603504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just">
              <a:spcAft>
                <a:spcPts val="600"/>
              </a:spcAft>
            </a:pPr>
            <a:r>
              <a:rPr sz="2000" b="0">
                <a:solidFill>
                  <a:srgbClr val="101010"/>
                </a:solidFill>
                <a:latin typeface="Calibri"/>
              </a:rPr>
              <a:t>We pick classification as our data-analysis approach, K-nearest neighbours (KNN) as our model, and a k-sweep minimising 5-fold CV error as our model-selection procedure. We then run that same procedure under three different CV schemes — shuffled, naive blocked, and stratified blocked — on the UCI #264 EEG Eye State recording. All three schemes pick k = 1, but the picked accuracies span 47 percentage points: 97.3% ± 0.4% (shuffled, leaky), 50.0% ± 10.7% (naive blocked), and 77.8% ± 2.7% (stratified blocked, honest). The 19.5 pp gap between the leaky and honest estimates is leakage attributable to scheme choice on this autocorrelated single-subject recording, not to model quality.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1225296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1225296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030200"/>
            <a:ext cx="13655040" cy="2377440"/>
          </a:xfrm>
          <a:prstGeom prst="rect">
            <a:avLst/>
          </a:prstGeom>
          <a:solidFill>
            <a:srgbClr val="F5EAC8"/>
          </a:solidFill>
        </p:spPr>
        <p:txBody>
          <a:bodyPr wrap="square" anchor="ctr" lIns="228600" rIns="228600" tIns="114300" bIns="114300">
            <a:spAutoFit/>
          </a:bodyPr>
          <a:lstStyle/>
          <a:p>
            <a:pPr algn="just">
              <a:spcAft>
                <a:spcPts val="600"/>
              </a:spcAft>
            </a:pPr>
            <a:r>
              <a:rPr sz="2200" b="1">
                <a:solidFill>
                  <a:srgbClr val="101010"/>
                </a:solidFill>
                <a:latin typeface="Calibri"/>
              </a:rPr>
              <a:t>Given an autocorrelated single-subject EEG recording and a KNN classifier, how does the choice of cross-validation scheme change the result of an otherwise-identical model-selection procedure?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1572768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572768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BACKGROUND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6504920"/>
            <a:ext cx="13655040" cy="1513332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UCI EEG Eye State dataset (Roesler, 2013) — id #264.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14,980 samples × 14 Emotiv channels (AF3, F7, F3, FC5, T7, P7, O1, O2, P8, T8, FC6, F4, F8, AF4), sampled at ~128 Hz over ~117 s.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Single subject, binary eyeDetection label, 55.12% open / 44.88% closed.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Only 24 contiguous label runs in the whole recording.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Channel autocorrelation at lag 1 ≈ 0.997 — adjacent samples are nearly identical, so any uniformly-random CV split puts near-duplicates into both train and test.</a:t>
            </a:r>
          </a:p>
        </p:txBody>
      </p:sp>
      <p:pic>
        <p:nvPicPr>
          <p:cNvPr id="19" name="Picture 18" descr="08_label_auto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162520"/>
            <a:ext cx="13289280" cy="836080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28569045"/>
            <a:ext cx="13289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i="1">
                <a:solidFill>
                  <a:srgbClr val="404040"/>
                </a:solidFill>
                <a:latin typeface="Calibri"/>
              </a:rPr>
              <a:t>Fig. 1.  Label autocorrelation across lags — motivates blocked CV.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118080" y="512064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118080" y="512064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18080" y="5897880"/>
            <a:ext cx="13655040" cy="548640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Approach: classification (binary eyeDetection target).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Model: K-nearest neighbours with Euclidean distance in z-scored 14-D channel space. Chosen because KNN's per-sample similarity decision rule is the COGS 109-palette model most sensitive to lag-1 autocorrelation.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Model selection: sweep k over {1, 3, 5, 7, 11, 15, 21, 31, 51, 75, 99, 151, 201} (log-spaced); pick the k maximising mean 5-fold CV accuracy.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CV scheme A — shuffled 5-fold (leaky baseline).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CV scheme B — naive blocked 5-fold (5 contiguous time chunks).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CV scheme C — stratified blocked 5-fold (100 short contiguous segments redistributed across folds to balance class proportion; honest).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Preprocessing: drop 4 voltage outliers (&gt;4 SD on any channel), chronological 80/20 split with a 64-sample seam gap, z-score on the training partition only.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118080" y="1170432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118080" y="1170432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TAKE-HOME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18080" y="12481560"/>
            <a:ext cx="13655040" cy="4206240"/>
          </a:xfrm>
          <a:prstGeom prst="rect">
            <a:avLst/>
          </a:prstGeom>
          <a:solidFill>
            <a:srgbClr val="F5EAC8"/>
          </a:solidFill>
        </p:spPr>
        <p:txBody>
          <a:bodyPr wrap="square" anchor="ctr" lIns="274320" rIns="274320" tIns="137160" bIns="137160">
            <a:spAutoFit/>
          </a:bodyPr>
          <a:lstStyle/>
          <a:p>
            <a:pPr algn="ctr"/>
            <a:r>
              <a:rPr sz="2800" b="1">
                <a:solidFill>
                  <a:srgbClr val="101010"/>
                </a:solidFill>
                <a:latin typeface="Calibri"/>
              </a:rPr>
              <a:t>Shuffled CV says we have a 97% classifier.</a:t>
            </a:r>
          </a:p>
          <a:p>
            <a:pPr algn="ctr">
              <a:spcBef>
                <a:spcPts val="800"/>
              </a:spcBef>
            </a:pPr>
            <a:r>
              <a:rPr sz="2800" b="1">
                <a:solidFill>
                  <a:srgbClr val="B03030"/>
                </a:solidFill>
                <a:latin typeface="Calibri"/>
              </a:rPr>
              <a:t>Honest stratified blocked CV says we have a 78% classifier.</a:t>
            </a:r>
          </a:p>
          <a:p>
            <a:pPr algn="ctr">
              <a:spcBef>
                <a:spcPts val="1000"/>
              </a:spcBef>
            </a:pPr>
            <a:r>
              <a:rPr sz="2400" i="1">
                <a:solidFill>
                  <a:srgbClr val="101010"/>
                </a:solidFill>
                <a:latin typeface="Calibri"/>
              </a:rPr>
              <a:t>The difference is leakage, not signal.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118080" y="1700784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118080" y="1700784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HEADLINE FIGURE</a:t>
            </a:r>
          </a:p>
        </p:txBody>
      </p:sp>
      <p:pic>
        <p:nvPicPr>
          <p:cNvPr id="29" name="Picture 28" descr="11_knn_k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8080" y="17785080"/>
            <a:ext cx="13655040" cy="882828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5118080" y="26659086"/>
            <a:ext cx="1365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i="1">
                <a:solidFill>
                  <a:srgbClr val="404040"/>
                </a:solidFill>
                <a:latin typeface="Calibri"/>
              </a:rPr>
              <a:t>Fig. 2.  KNN mean accuracy ± std-dev vs k (log scale) under three CV schemes — all three schemes pick k = 1 but report accuracies spanning 47 percentage points.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321760" y="512064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321760" y="512064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29321760" y="5897880"/>
          <a:ext cx="136550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81318"/>
                <a:gridCol w="2457907"/>
                <a:gridCol w="4915814"/>
              </a:tblGrid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CV scheme</a:t>
                      </a:r>
                    </a:p>
                  </a:txBody>
                  <a:tcPr marL="73152" marR="73152" marT="54864" marB="54864">
                    <a:solidFill>
                      <a:srgbClr val="1F3D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Picked k</a:t>
                      </a:r>
                    </a:p>
                  </a:txBody>
                  <a:tcPr marL="73152" marR="73152" marT="54864" marB="54864">
                    <a:solidFill>
                      <a:srgbClr val="1F3D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Mean accuracy ± std</a:t>
                      </a:r>
                    </a:p>
                  </a:txBody>
                  <a:tcPr marL="73152" marR="73152" marT="54864" marB="54864">
                    <a:solidFill>
                      <a:srgbClr val="1F3D7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101010"/>
                          </a:solidFill>
                          <a:latin typeface="Calibri"/>
                        </a:rPr>
                        <a:t>Shuffled (leaky)</a:t>
                      </a:r>
                    </a:p>
                  </a:txBody>
                  <a:tcPr marL="73152" marR="73152" marT="54864" marB="54864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54864" marB="54864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01010"/>
                          </a:solidFill>
                          <a:latin typeface="Calibri"/>
                        </a:rPr>
                        <a:t>0.9728 ± 0.0037</a:t>
                      </a:r>
                    </a:p>
                  </a:txBody>
                  <a:tcPr marL="73152" marR="73152" marT="54864" marB="54864">
                    <a:solidFill>
                      <a:srgbClr val="FAFA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101010"/>
                          </a:solidFill>
                          <a:latin typeface="Calibri"/>
                        </a:rPr>
                        <a:t>Naive blocked</a:t>
                      </a:r>
                    </a:p>
                  </a:txBody>
                  <a:tcPr marL="73152" marR="73152" marT="54864" marB="54864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54864" marB="54864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01010"/>
                          </a:solidFill>
                          <a:latin typeface="Calibri"/>
                        </a:rPr>
                        <a:t>0.5004 ± 0.1068</a:t>
                      </a:r>
                    </a:p>
                  </a:txBody>
                  <a:tcPr marL="73152" marR="73152" marT="54864" marB="54864">
                    <a:solidFill>
                      <a:srgbClr val="FAFA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101010"/>
                          </a:solidFill>
                          <a:latin typeface="Calibri"/>
                        </a:rPr>
                        <a:t>Stratified blocked (honest)</a:t>
                      </a:r>
                    </a:p>
                  </a:txBody>
                  <a:tcPr marL="73152" marR="73152" marT="54864" marB="54864">
                    <a:solidFill>
                      <a:srgbClr val="F5EA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54864" marB="54864">
                    <a:solidFill>
                      <a:srgbClr val="F5EA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01010"/>
                          </a:solidFill>
                          <a:latin typeface="Calibri"/>
                        </a:rPr>
                        <a:t>0.7778 ± 0.0274</a:t>
                      </a:r>
                    </a:p>
                  </a:txBody>
                  <a:tcPr marL="73152" marR="73152" marT="54864" marB="54864">
                    <a:solidFill>
                      <a:srgbClr val="F5EAC8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321760" y="932688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321760" y="932688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SUPPORTING 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21760" y="10104120"/>
            <a:ext cx="13655040" cy="329184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01010"/>
                </a:solidFill>
                <a:latin typeface="Calibri"/>
              </a:rPr>
              <a:t>•  We also evaluated three alternative classifiers (LDA, PCA→LDA, PCR-as-classifier) as sanity checks, sweeping their hyperparameters under the same three CV schemes.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01010"/>
                </a:solidFill>
                <a:latin typeface="Calibri"/>
              </a:rPr>
              <a:t>•  LDA leakage gap (shuffled minus stratified blocked): +5.6 pp.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01010"/>
                </a:solidFill>
                <a:latin typeface="Calibri"/>
              </a:rPr>
              <a:t>•  PCA→LDA (n=3) leakage gap: +2.4 pp.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01010"/>
                </a:solidFill>
                <a:latin typeface="Calibri"/>
              </a:rPr>
              <a:t>•  PCR-as-classifier (n=2) leakage gap: +2.8 pp.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01010"/>
                </a:solidFill>
                <a:latin typeface="Calibri"/>
              </a:rPr>
              <a:t>•  KNN's +19.5 pp gap is the outlier — consistent with KNN exploiting per-sample similarity while LDA / PCA→LDA / PCR average over many samples before deciding. See figure 14 + tables/03 for full numbers.</a:t>
            </a:r>
          </a:p>
        </p:txBody>
      </p:sp>
      <p:pic>
        <p:nvPicPr>
          <p:cNvPr id="37" name="Picture 36" descr="14_cv_comparison_three_w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65899" y="13578840"/>
            <a:ext cx="3966762" cy="228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9321760" y="15910560"/>
            <a:ext cx="1365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i="1">
                <a:solidFill>
                  <a:srgbClr val="404040"/>
                </a:solidFill>
                <a:latin typeface="Calibri"/>
              </a:rPr>
              <a:t>Fig. 3.  Supporting figure — three-way CV comparison across LDA / KNN / PCA→LDA / PCR. KNN bar group has the largest leakage gap.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321760" y="1650492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321760" y="1650492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321760" y="17282160"/>
            <a:ext cx="13655040" cy="402336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01010"/>
                </a:solidFill>
                <a:latin typeface="Calibri"/>
              </a:rPr>
              <a:t>•  (1) The same KNN-k-sweep model-selection procedure picks k = 1 under all three CV schemes — but the accuracy at that k varies by 47 percentage points (50.0% naive blocked → 97.3% shuffled).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01010"/>
                </a:solidFill>
                <a:latin typeface="Calibri"/>
              </a:rPr>
              <a:t>•  (2) The honest accuracy at k = 1 (stratified blocked CV) is 77.8% ± 2.7% — well above the 55.12% majority-class baseline.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01010"/>
                </a:solidFill>
                <a:latin typeface="Calibri"/>
              </a:rPr>
              <a:t>•  (3) The 19.5 pp gap between the leaky and honest estimates is leakage attributable to scheme choice, not signal from a better model.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01010"/>
                </a:solidFill>
                <a:latin typeface="Calibri"/>
              </a:rPr>
              <a:t>•  (4) Alternative classifiers (LDA / PCA→LDA / PCR) confirm KNN is uniquely vulnerable — their leakage gaps are only 2–6 pp, as theory predicts for classifiers that do not depend on per-sample similarity.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321760" y="2153412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321760" y="2153412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321760" y="22311360"/>
            <a:ext cx="13655040" cy="932688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101010"/>
                </a:solidFill>
                <a:latin typeface="Calibri"/>
              </a:rPr>
              <a:t>[1] Roesler, O. (2013). EEG Eye State Data Set. UCI ML Repository #264. https://archive.ics.uci.edu/dataset/264/eeg+eye+state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01010"/>
                </a:solidFill>
                <a:latin typeface="Calibri"/>
              </a:rPr>
              <a:t>[2] Mukamel, R. (2026). COGS 109 — Modelling and Data Analysis Spring 2026 Study Guide. UC San Diego.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01010"/>
                </a:solidFill>
                <a:latin typeface="Calibri"/>
              </a:rPr>
              <a:t>[3] James, G., Witten, D., Hastie, T., Tibshirani, R. (2021). An Introduction to Statistical Learning, 2nd ed. Springer.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01010"/>
                </a:solidFill>
                <a:latin typeface="Calibri"/>
              </a:rPr>
              <a:t>[4] Bergmeir, C., Benítez, J. M. (2012). On the use of cross-validation for time series predictor evaluation. Information Sciences 191:192–213.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2004000"/>
            <a:ext cx="43891200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80160" y="32004000"/>
            <a:ext cx="413308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D8DEE8"/>
                </a:solidFill>
                <a:latin typeface="Calibri"/>
              </a:rPr>
              <a:t>Source code &amp; full report:  github.com/BariBariGood/cogs109-eeg-eye-state-classifier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0" y="32004000"/>
            <a:ext cx="12435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0">
                <a:solidFill>
                  <a:srgbClr val="D8DEE8"/>
                </a:solidFill>
                <a:latin typeface="Calibri"/>
              </a:rPr>
              <a:t>COGS 109 — Modelling and Data Analysis —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 of EEG Eye-State via KNN: A Cross-Validation Honesty Study</dc:title>
  <dc:subject>COGS 109 Spring 2026 — EEG Eye-State Classifier</dc:subject>
  <dc:creator>BariBariGood</dc:creator>
  <cp:keywords/>
  <dc:description>generated using python-pptx</dc:description>
  <cp:lastModifiedBy>BariBariGood</cp:lastModifiedBy>
  <cp:revision>1</cp:revision>
  <dcterms:created xsi:type="dcterms:W3CDTF">2026-05-28T00:00:00Z</dcterms:created>
  <dcterms:modified xsi:type="dcterms:W3CDTF">2026-05-28T00:00:00Z</dcterms:modified>
  <cp:category/>
</cp:coreProperties>
</file>